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9DE979EC-CEFC-4F5B-973A-C339DF1994AB}">
  <a:tblStyle styleId="{9DE979EC-CEFC-4F5B-973A-C339DF1994A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4fc8d547c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4fc8d547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4fc8d547c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4fc8d547c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4fc8d547c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4fc8d547c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4fc8d547c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4fc8d547c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4fc8d547c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4fc8d547c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4fc8d547c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4fc8d547c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4fc8d547c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4fc8d547c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4fc8d547c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4fc8d547c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4fc8d547cd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4fc8d547cd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4fc8d547cd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4fc8d547cd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4fc8d547cd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4fc8d547c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4fc8d547cd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4fc8d547cd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4fc8d547cd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4fc8d547cd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4fc8d547cd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4fc8d547cd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4fc8d547cd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4fc8d547cd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4fc8d547cd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4fc8d547cd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4fc8d547cd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4fc8d547cd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4fc8d547cd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4fc8d547cd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4fc8d547cd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4fc8d547cd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4fc8d547cd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4fc8d547cd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4fc8d547cd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4fc8d547cd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4fc8d547cd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4fc8d547cd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4fc8d547cd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4fc8d547cd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4fc8d547cd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4fc8d547cd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4fc8d547cd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4fc8d547cd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4fc8d547cd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4fc8d547cd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4fc8d547cd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4fc8d547cd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4fc8d547cd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4fc8d547cd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4fc8d547cd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4fc8d547cd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4fc8d547cd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4fc8d547cd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4fc8d547cd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4fc8d547cd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4fc8d547cd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4fc8d547cd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4fc8d547cd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4fc8d547cd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4fc8d547cd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4fc8d547cd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4fc8d547cd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4fc8d547cd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4fc8d547cd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4fc8d547cd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4fc8d547cd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4fc8d547cd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4fc8d547cd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4fc8d547cd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2.png"/><Relationship Id="rId4" Type="http://schemas.openxmlformats.org/officeDocument/2006/relationships/image" Target="../media/image11.png"/><Relationship Id="rId5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Relationship Id="rId6" Type="http://schemas.openxmlformats.org/officeDocument/2006/relationships/image" Target="../media/image3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4.png"/><Relationship Id="rId4" Type="http://schemas.openxmlformats.org/officeDocument/2006/relationships/image" Target="../media/image2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7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www.geeksforgeeks.org/iterative-tower-of-hanoi/" TargetMode="External"/><Relationship Id="rId4" Type="http://schemas.openxmlformats.org/officeDocument/2006/relationships/image" Target="../media/image3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Introduction to Recursion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5675" y="152400"/>
            <a:ext cx="363265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What is recursion?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recursive function is a function that calls itself directly or indirectly.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b="1" lang="pt-BR"/>
              <a:t>Direct recursion</a:t>
            </a:r>
            <a:r>
              <a:rPr lang="pt-BR"/>
              <a:t>: when the function calls itself in the same function.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b="1" lang="pt-BR"/>
              <a:t>Indirect recursion</a:t>
            </a:r>
            <a:r>
              <a:rPr lang="pt-BR"/>
              <a:t>: when there is a chain of two or more function calls in which the original function is called again.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Why and when use recursion?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Recursion breaks the original problem into smaller, identical sub-problems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Divide and conquer approach.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Recursive solutions tend to be inefficient, impractical. </a:t>
            </a:r>
            <a:r>
              <a:rPr lang="pt-BR"/>
              <a:t>Typically, the iterative solution for the same problem is more efficient. </a:t>
            </a:r>
            <a:r>
              <a:rPr lang="pt-BR">
                <a:solidFill>
                  <a:srgbClr val="FF0000"/>
                </a:solidFill>
              </a:rPr>
              <a:t>Rule of thumb: avoid them!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Can have infinite sequence of function calls (infinite recursion), similar to infinite loop, NOT GOOD.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Many complex problems can lead to simple, elegant recursive solutions. Ex.:</a:t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5352" y="3437325"/>
            <a:ext cx="4830075" cy="172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Recursive solutions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recursive solution calls itself to solve a smaller sized problem than the original one.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Must have at least one </a:t>
            </a:r>
            <a:r>
              <a:rPr lang="pt-BR" u="sng"/>
              <a:t>base case</a:t>
            </a:r>
            <a:r>
              <a:rPr lang="pt-BR"/>
              <a:t>, which will avoid infinite recursive calls.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The </a:t>
            </a:r>
            <a:r>
              <a:rPr lang="pt-BR" u="sng"/>
              <a:t>general case</a:t>
            </a:r>
            <a:r>
              <a:rPr lang="pt-BR"/>
              <a:t> is the part of the solution that will call itself.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Eventually the problem will be so small that it will be considered the base case, which in turn will return a concrete result.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Recursive solutions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Questions that help when constructing a recursion solution: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Can the problem be solved by dividing it into smaller problems of the same type?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How would each recursive call reduce the size of the problem?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What is the smallest possible size of this problem? aka the </a:t>
            </a:r>
            <a:r>
              <a:rPr lang="pt-BR" u="sng"/>
              <a:t>base case</a:t>
            </a:r>
            <a:r>
              <a:rPr lang="pt-BR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As the problem size diminishes, will it eventually reach the base case?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Recursive solutions: general format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Each successive recursive call should bring you closer to a situation in which the answer is known.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Each recursive algorithm must have at least one </a:t>
            </a:r>
            <a:r>
              <a:rPr lang="pt-BR" u="sng"/>
              <a:t>base case</a:t>
            </a:r>
            <a:r>
              <a:rPr lang="pt-BR"/>
              <a:t> (stopping criteria) and one </a:t>
            </a:r>
            <a:r>
              <a:rPr lang="pt-BR" u="sng"/>
              <a:t>general (recursive) case</a:t>
            </a:r>
            <a:r>
              <a:rPr lang="pt-BR"/>
              <a:t>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Pseudo-code: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4500" y="3159175"/>
            <a:ext cx="5715000" cy="14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The Factorial of </a:t>
            </a:r>
            <a:r>
              <a:rPr i="1" lang="pt-BR"/>
              <a:t>n</a:t>
            </a:r>
            <a:endParaRPr i="1"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An iterative solution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recursive solution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>
                <a:solidFill>
                  <a:srgbClr val="FF0000"/>
                </a:solidFill>
              </a:rPr>
              <a:t>Note: avoid using a recursion if there is a simple efficient iterative solution.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99" name="Google Shape;9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0525" y="991925"/>
            <a:ext cx="2266950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549228"/>
            <a:ext cx="6435926" cy="102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3" y="3103250"/>
            <a:ext cx="4090145" cy="102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27525" y="621838"/>
            <a:ext cx="288607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Recursive query</a:t>
            </a:r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2862525" cy="329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7625" y="2118026"/>
            <a:ext cx="4604675" cy="287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Recursive query</a:t>
            </a:r>
            <a:endParaRPr/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3913150" cy="225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7950" y="2900500"/>
            <a:ext cx="4614351" cy="1983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Recursive solution</a:t>
            </a:r>
            <a:endParaRPr/>
          </a:p>
        </p:txBody>
      </p:sp>
      <p:pic>
        <p:nvPicPr>
          <p:cNvPr id="122" name="Google Shape;12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338" y="1017725"/>
            <a:ext cx="8255317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Recursive valued function: factorial</a:t>
            </a:r>
            <a:endParaRPr/>
          </a:p>
        </p:txBody>
      </p:sp>
      <p:pic>
        <p:nvPicPr>
          <p:cNvPr id="128" name="Google Shape;1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8563" y="1017725"/>
            <a:ext cx="7246874" cy="384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Recursive call chain</a:t>
            </a:r>
            <a:endParaRPr/>
          </a:p>
        </p:txBody>
      </p:sp>
      <p:pic>
        <p:nvPicPr>
          <p:cNvPr id="134" name="Google Shape;13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8" y="990325"/>
            <a:ext cx="5260176" cy="316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5274" y="794100"/>
            <a:ext cx="286702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/>
              <a:t>Note: all the unsolved calls will remain in memory until the base case is reached!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Recursive void function: write a string backwards</a:t>
            </a:r>
            <a:endParaRPr/>
          </a:p>
        </p:txBody>
      </p:sp>
      <p:pic>
        <p:nvPicPr>
          <p:cNvPr id="142" name="Google Shape;14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23524"/>
            <a:ext cx="3814701" cy="2958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9025" y="1023525"/>
            <a:ext cx="2860475" cy="184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4075850"/>
            <a:ext cx="5335099" cy="83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5646800" y="2881075"/>
            <a:ext cx="3185400" cy="18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Note: Even though there is no return statement, all calls will remain in memory until base case is reached.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The Fibonacci Sequence</a:t>
            </a:r>
            <a:endParaRPr i="1"/>
          </a:p>
        </p:txBody>
      </p:sp>
      <p:pic>
        <p:nvPicPr>
          <p:cNvPr id="151" name="Google Shape;15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0925" y="636138"/>
            <a:ext cx="14382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3925" y="963350"/>
            <a:ext cx="37814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84825" y="1376525"/>
            <a:ext cx="2971275" cy="356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1650" y="1893247"/>
            <a:ext cx="4419600" cy="2032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The Fibonacci Sequence</a:t>
            </a:r>
            <a:endParaRPr/>
          </a:p>
        </p:txBody>
      </p:sp>
      <p:pic>
        <p:nvPicPr>
          <p:cNvPr id="160" name="Google Shape;16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1375" y="1194950"/>
            <a:ext cx="6901250" cy="336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The Fibonacci Sequence: generated recursive calls</a:t>
            </a:r>
            <a:endParaRPr/>
          </a:p>
        </p:txBody>
      </p:sp>
      <p:pic>
        <p:nvPicPr>
          <p:cNvPr id="166" name="Google Shape;16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6100" y="1338875"/>
            <a:ext cx="6511799" cy="3227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The n-choose-k problem</a:t>
            </a:r>
            <a:endParaRPr/>
          </a:p>
        </p:txBody>
      </p:sp>
      <p:sp>
        <p:nvSpPr>
          <p:cNvPr id="172" name="Google Shape;172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Given a set of </a:t>
            </a:r>
            <a:r>
              <a:rPr i="1" lang="pt-BR"/>
              <a:t>n</a:t>
            </a:r>
            <a:r>
              <a:rPr lang="pt-BR"/>
              <a:t> things, how many ways can you choose </a:t>
            </a:r>
            <a:r>
              <a:rPr i="1" lang="pt-BR"/>
              <a:t>k</a:t>
            </a:r>
            <a:r>
              <a:rPr lang="pt-BR"/>
              <a:t> of them, given that </a:t>
            </a:r>
            <a:r>
              <a:rPr i="1" lang="pt-BR"/>
              <a:t>n &gt;= k</a:t>
            </a:r>
            <a:r>
              <a:rPr lang="pt-BR"/>
              <a:t>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"A band wants to tour </a:t>
            </a:r>
            <a:r>
              <a:rPr i="1" lang="pt-BR"/>
              <a:t>k</a:t>
            </a:r>
            <a:r>
              <a:rPr lang="pt-BR"/>
              <a:t> out of </a:t>
            </a:r>
            <a:r>
              <a:rPr i="1" lang="pt-BR"/>
              <a:t>n</a:t>
            </a:r>
            <a:r>
              <a:rPr lang="pt-BR"/>
              <a:t> cities."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The order is not an issue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Let </a:t>
            </a:r>
            <a:r>
              <a:rPr i="1" lang="pt-BR"/>
              <a:t>g(n, k)</a:t>
            </a:r>
            <a:r>
              <a:rPr lang="pt-BR"/>
              <a:t> be the number of groups of </a:t>
            </a:r>
            <a:r>
              <a:rPr i="1" lang="pt-BR"/>
              <a:t>k</a:t>
            </a:r>
            <a:r>
              <a:rPr lang="pt-BR"/>
              <a:t> cities chosen from </a:t>
            </a:r>
            <a:r>
              <a:rPr i="1" lang="pt-BR"/>
              <a:t>n</a:t>
            </a:r>
            <a:r>
              <a:rPr lang="pt-BR"/>
              <a:t>, then: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Base cases:</a:t>
            </a:r>
            <a:endParaRPr/>
          </a:p>
        </p:txBody>
      </p:sp>
      <p:pic>
        <p:nvPicPr>
          <p:cNvPr id="173" name="Google Shape;17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0275" y="596479"/>
            <a:ext cx="1801600" cy="35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60950" y="596481"/>
            <a:ext cx="1072725" cy="35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03675" y="2721927"/>
            <a:ext cx="3330600" cy="40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97750" y="3460450"/>
            <a:ext cx="1142450" cy="7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Combinations</a:t>
            </a:r>
            <a:endParaRPr/>
          </a:p>
        </p:txBody>
      </p:sp>
      <p:sp>
        <p:nvSpPr>
          <p:cNvPr id="182" name="Google Shape;182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H</a:t>
            </a:r>
            <a:r>
              <a:rPr lang="pt-BR"/>
              <a:t>ow many combinations of a certain size can be made out of a total group of elements?</a:t>
            </a:r>
            <a:endParaRPr/>
          </a:p>
        </p:txBody>
      </p:sp>
      <p:pic>
        <p:nvPicPr>
          <p:cNvPr id="183" name="Google Shape;18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6725" y="2448077"/>
            <a:ext cx="5970549" cy="153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n-choose-k solution</a:t>
            </a:r>
            <a:endParaRPr/>
          </a:p>
        </p:txBody>
      </p:sp>
      <p:pic>
        <p:nvPicPr>
          <p:cNvPr id="189" name="Google Shape;18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250" y="1208875"/>
            <a:ext cx="5719501" cy="336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Calls generated (</a:t>
            </a:r>
            <a:r>
              <a:rPr i="1" lang="pt-BR"/>
              <a:t>n=4, k=2</a:t>
            </a:r>
            <a:r>
              <a:rPr lang="pt-BR"/>
              <a:t>)</a:t>
            </a:r>
            <a:endParaRPr/>
          </a:p>
        </p:txBody>
      </p:sp>
      <p:pic>
        <p:nvPicPr>
          <p:cNvPr id="195" name="Google Shape;19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8835" y="1185875"/>
            <a:ext cx="5606329" cy="341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Tail Recursion</a:t>
            </a:r>
            <a:endParaRPr/>
          </a:p>
        </p:txBody>
      </p:sp>
      <p:sp>
        <p:nvSpPr>
          <p:cNvPr id="201" name="Google Shape;201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When a function can pre-compute the result and pass it along to the subsequent recursive calls. The next recursive call simply updates the pre-computed value.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Tail recursive solutions may need less memory, depending on the cimpiler.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Tail recursion can be replaced by iteration, effectivelly removing recursion from the solution.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Cumulative</a:t>
            </a:r>
            <a:r>
              <a:rPr lang="pt-BR"/>
              <a:t> sum</a:t>
            </a:r>
            <a:endParaRPr/>
          </a:p>
        </p:txBody>
      </p:sp>
      <p:sp>
        <p:nvSpPr>
          <p:cNvPr id="207" name="Google Shape;207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The sum of the first </a:t>
            </a:r>
            <a:r>
              <a:rPr i="1" lang="pt-BR"/>
              <a:t>N</a:t>
            </a:r>
            <a:r>
              <a:rPr lang="pt-BR"/>
              <a:t> integers: </a:t>
            </a:r>
            <a:r>
              <a:rPr i="1" lang="pt-BR"/>
              <a:t>f(n) = n + (n-1) + (n-2) + ... + 1, n &gt;=1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Typical recursive solution: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08" name="Google Shape;20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8525" y="1853000"/>
            <a:ext cx="4486950" cy="307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Cumulative sum: tail-recursive solution</a:t>
            </a:r>
            <a:endParaRPr/>
          </a:p>
        </p:txBody>
      </p:sp>
      <p:pic>
        <p:nvPicPr>
          <p:cNvPr id="214" name="Google Shape;21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2538" y="1246325"/>
            <a:ext cx="5438925" cy="328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Call comparison</a:t>
            </a:r>
            <a:endParaRPr/>
          </a:p>
        </p:txBody>
      </p:sp>
      <p:pic>
        <p:nvPicPr>
          <p:cNvPr id="220" name="Google Shape;22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27250"/>
            <a:ext cx="4591050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3400" y="1017725"/>
            <a:ext cx="2628900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7"/>
          <p:cNvSpPr txBox="1"/>
          <p:nvPr>
            <p:ph idx="1" type="body"/>
          </p:nvPr>
        </p:nvSpPr>
        <p:spPr>
          <a:xfrm>
            <a:off x="311700" y="3773700"/>
            <a:ext cx="8520600" cy="7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In the conventional way, the program has to wait for all the recursive calls to finish and then actually executing the sum. The tail-recursive updates the result at each recursive call.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Iterative solution</a:t>
            </a:r>
            <a:endParaRPr/>
          </a:p>
        </p:txBody>
      </p:sp>
      <p:pic>
        <p:nvPicPr>
          <p:cNvPr id="228" name="Google Shape;22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5913" y="1017725"/>
            <a:ext cx="5712169" cy="363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Recursion and Efficiency</a:t>
            </a:r>
            <a:endParaRPr/>
          </a:p>
        </p:txBody>
      </p:sp>
      <p:sp>
        <p:nvSpPr>
          <p:cNvPr id="234" name="Google Shape;234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Factors that contribute to inefficiency: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Overhead associated with function calls.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Repeated recursive calls: some algorithms execute the same task multiple times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e.g. the Fibonacci sequence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Keep in mind: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Recursion can clarify complex solutions. However ...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Clear, efficient, iterative solutions are better.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Why do we need to know recursion at all?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Interviews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Sometimes quicker to find a first solution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When to use recursive solution</a:t>
            </a:r>
            <a:endParaRPr/>
          </a:p>
        </p:txBody>
      </p:sp>
      <p:sp>
        <p:nvSpPr>
          <p:cNvPr id="240" name="Google Shape;240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When the depth of the recursive calls is relatively "</a:t>
            </a:r>
            <a:r>
              <a:rPr b="1" lang="pt-BR"/>
              <a:t>shallow</a:t>
            </a:r>
            <a:r>
              <a:rPr lang="pt-BR"/>
              <a:t>" compared to the size of the problem.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When the recursive solution does </a:t>
            </a:r>
            <a:r>
              <a:rPr b="1" lang="pt-BR"/>
              <a:t>less</a:t>
            </a:r>
            <a:r>
              <a:rPr lang="pt-BR"/>
              <a:t> work than its iterative counterpart.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When the recursive version is </a:t>
            </a:r>
            <a:r>
              <a:rPr b="1" lang="pt-BR"/>
              <a:t>much</a:t>
            </a:r>
            <a:r>
              <a:rPr lang="pt-BR"/>
              <a:t> shorter and simpler than the non-recursive solution.</a:t>
            </a:r>
            <a:endParaRPr/>
          </a:p>
        </p:txBody>
      </p:sp>
      <p:sp>
        <p:nvSpPr>
          <p:cNvPr id="241" name="Google Shape;241;p40"/>
          <p:cNvSpPr/>
          <p:nvPr/>
        </p:nvSpPr>
        <p:spPr>
          <a:xfrm>
            <a:off x="311700" y="3421700"/>
            <a:ext cx="2229300" cy="893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40"/>
          <p:cNvSpPr/>
          <p:nvPr/>
        </p:nvSpPr>
        <p:spPr>
          <a:xfrm>
            <a:off x="3457350" y="3421700"/>
            <a:ext cx="2229300" cy="893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40"/>
          <p:cNvSpPr/>
          <p:nvPr/>
        </p:nvSpPr>
        <p:spPr>
          <a:xfrm>
            <a:off x="6603000" y="3421700"/>
            <a:ext cx="2229300" cy="893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40"/>
          <p:cNvSpPr txBox="1"/>
          <p:nvPr/>
        </p:nvSpPr>
        <p:spPr>
          <a:xfrm>
            <a:off x="553500" y="3642650"/>
            <a:ext cx="17457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SHALLOW DEPTH</a:t>
            </a:r>
            <a:endParaRPr/>
          </a:p>
        </p:txBody>
      </p:sp>
      <p:sp>
        <p:nvSpPr>
          <p:cNvPr id="245" name="Google Shape;245;p40"/>
          <p:cNvSpPr txBox="1"/>
          <p:nvPr/>
        </p:nvSpPr>
        <p:spPr>
          <a:xfrm>
            <a:off x="3699150" y="3642650"/>
            <a:ext cx="17457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EFFICIENCY</a:t>
            </a:r>
            <a:endParaRPr/>
          </a:p>
        </p:txBody>
      </p:sp>
      <p:sp>
        <p:nvSpPr>
          <p:cNvPr id="246" name="Google Shape;246;p40"/>
          <p:cNvSpPr txBox="1"/>
          <p:nvPr/>
        </p:nvSpPr>
        <p:spPr>
          <a:xfrm>
            <a:off x="6844800" y="3642650"/>
            <a:ext cx="17457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CLARITY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7000" y="185725"/>
            <a:ext cx="3810000" cy="477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Recursion is not difficult, needs practice!</a:t>
            </a:r>
            <a:endParaRPr/>
          </a:p>
        </p:txBody>
      </p:sp>
      <p:sp>
        <p:nvSpPr>
          <p:cNvPr id="257" name="Google Shape;257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Some more examples: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Tower of Hanoi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Binary Search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Towers of Hanoi</a:t>
            </a:r>
            <a:endParaRPr/>
          </a:p>
        </p:txBody>
      </p:sp>
      <p:pic>
        <p:nvPicPr>
          <p:cNvPr id="263" name="Google Shape;26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4400" y="863550"/>
            <a:ext cx="455520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70" name="Google Shape;27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4450" y="742950"/>
            <a:ext cx="6515100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Towers of Hanoi</a:t>
            </a:r>
            <a:endParaRPr/>
          </a:p>
        </p:txBody>
      </p:sp>
      <p:sp>
        <p:nvSpPr>
          <p:cNvPr id="276" name="Google Shape;276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Problem: starting with </a:t>
            </a:r>
            <a:r>
              <a:rPr i="1" lang="pt-BR"/>
              <a:t>n</a:t>
            </a:r>
            <a:r>
              <a:rPr lang="pt-BR"/>
              <a:t> disks on pole </a:t>
            </a:r>
            <a:r>
              <a:rPr b="1" lang="pt-BR"/>
              <a:t>A</a:t>
            </a:r>
            <a:r>
              <a:rPr lang="pt-BR"/>
              <a:t> and zero on poles </a:t>
            </a:r>
            <a:r>
              <a:rPr b="1" lang="pt-BR"/>
              <a:t>B</a:t>
            </a:r>
            <a:r>
              <a:rPr lang="pt-BR"/>
              <a:t> and </a:t>
            </a:r>
            <a:r>
              <a:rPr b="1" lang="pt-BR"/>
              <a:t>C</a:t>
            </a:r>
            <a:r>
              <a:rPr lang="pt-BR"/>
              <a:t>. Move all disks to pole </a:t>
            </a:r>
            <a:r>
              <a:rPr b="1" lang="pt-BR"/>
              <a:t>C</a:t>
            </a:r>
            <a:r>
              <a:rPr lang="pt-BR"/>
              <a:t> without having a larger disk resting on top of a smaller disk. Solve function </a:t>
            </a:r>
            <a:r>
              <a:rPr i="1" lang="pt-BR"/>
              <a:t>solveTowers(n, A, B, C)</a:t>
            </a:r>
            <a:r>
              <a:rPr lang="pt-BR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Solution: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With all disks on </a:t>
            </a:r>
            <a:r>
              <a:rPr b="1" lang="pt-BR"/>
              <a:t>A</a:t>
            </a:r>
            <a:r>
              <a:rPr lang="pt-BR"/>
              <a:t>, solve </a:t>
            </a:r>
            <a:r>
              <a:rPr i="1" lang="pt-BR"/>
              <a:t>solveTowers(n-1, A, C, B)</a:t>
            </a:r>
            <a:r>
              <a:rPr lang="pt-BR"/>
              <a:t>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With largest disk on </a:t>
            </a:r>
            <a:r>
              <a:rPr b="1" lang="pt-BR"/>
              <a:t>A</a:t>
            </a:r>
            <a:r>
              <a:rPr lang="pt-BR"/>
              <a:t>, and all others on </a:t>
            </a:r>
            <a:r>
              <a:rPr b="1" lang="pt-BR"/>
              <a:t>C</a:t>
            </a:r>
            <a:r>
              <a:rPr lang="pt-BR"/>
              <a:t>, </a:t>
            </a:r>
            <a:r>
              <a:rPr i="1" lang="pt-BR"/>
              <a:t>solveTowers(n-1, A, B, C)</a:t>
            </a:r>
            <a:r>
              <a:rPr lang="pt-BR"/>
              <a:t>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With largest disk on </a:t>
            </a:r>
            <a:r>
              <a:rPr b="1" lang="pt-BR"/>
              <a:t>B</a:t>
            </a:r>
            <a:r>
              <a:rPr lang="pt-BR"/>
              <a:t>, and all others on </a:t>
            </a:r>
            <a:r>
              <a:rPr b="1" lang="pt-BR"/>
              <a:t>C</a:t>
            </a:r>
            <a:r>
              <a:rPr lang="pt-BR"/>
              <a:t>, </a:t>
            </a:r>
            <a:r>
              <a:rPr i="1" lang="pt-BR"/>
              <a:t>solveTowers(n-1, C, B, A)</a:t>
            </a:r>
            <a:r>
              <a:rPr lang="pt-BR"/>
              <a:t>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Towers of Hanoi: solution</a:t>
            </a:r>
            <a:endParaRPr/>
          </a:p>
        </p:txBody>
      </p:sp>
      <p:pic>
        <p:nvPicPr>
          <p:cNvPr id="282" name="Google Shape;28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5450" y="1400175"/>
            <a:ext cx="5753100" cy="280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Towers of Hanoi: recursive calls</a:t>
            </a:r>
            <a:endParaRPr/>
          </a:p>
        </p:txBody>
      </p:sp>
      <p:sp>
        <p:nvSpPr>
          <p:cNvPr id="288" name="Google Shape;288;p47"/>
          <p:cNvSpPr txBox="1"/>
          <p:nvPr>
            <p:ph idx="1" type="body"/>
          </p:nvPr>
        </p:nvSpPr>
        <p:spPr>
          <a:xfrm>
            <a:off x="311700" y="3819475"/>
            <a:ext cx="8520600" cy="9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Minimal number of moves: 2</a:t>
            </a:r>
            <a:r>
              <a:rPr baseline="30000" lang="pt-BR"/>
              <a:t>n</a:t>
            </a:r>
            <a:r>
              <a:rPr lang="pt-BR"/>
              <a:t> - 1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/>
              <a:t>Example iterative solution: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https://www.geeksforgeeks.org/iterative-tower-of-hanoi/</a:t>
            </a:r>
            <a:endParaRPr/>
          </a:p>
        </p:txBody>
      </p:sp>
      <p:pic>
        <p:nvPicPr>
          <p:cNvPr id="289" name="Google Shape;289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779325"/>
            <a:ext cx="8839199" cy="1278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Binary Search</a:t>
            </a:r>
            <a:endParaRPr/>
          </a:p>
        </p:txBody>
      </p:sp>
      <p:sp>
        <p:nvSpPr>
          <p:cNvPr id="295" name="Google Shape;295;p48"/>
          <p:cNvSpPr txBox="1"/>
          <p:nvPr>
            <p:ph idx="1" type="body"/>
          </p:nvPr>
        </p:nvSpPr>
        <p:spPr>
          <a:xfrm>
            <a:off x="311700" y="1152475"/>
            <a:ext cx="8520600" cy="35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Given a </a:t>
            </a:r>
            <a:r>
              <a:rPr b="1" lang="pt-BR"/>
              <a:t>sorted array</a:t>
            </a:r>
            <a:r>
              <a:rPr lang="pt-BR"/>
              <a:t>, find the position of a given </a:t>
            </a:r>
            <a:r>
              <a:rPr i="1" lang="pt-BR"/>
              <a:t>target value</a:t>
            </a:r>
            <a:r>
              <a:rPr lang="pt-BR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Example array: ascending prime numbers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Solution: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Find the middle point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If </a:t>
            </a:r>
            <a:r>
              <a:rPr i="1" lang="pt-BR"/>
              <a:t>middle</a:t>
            </a:r>
            <a:r>
              <a:rPr lang="pt-BR"/>
              <a:t> point is </a:t>
            </a:r>
            <a:r>
              <a:rPr i="1" lang="pt-BR"/>
              <a:t>target</a:t>
            </a:r>
            <a:r>
              <a:rPr lang="pt-BR"/>
              <a:t> value, return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If </a:t>
            </a:r>
            <a:r>
              <a:rPr i="1" lang="pt-BR"/>
              <a:t>middle</a:t>
            </a:r>
            <a:r>
              <a:rPr lang="pt-BR"/>
              <a:t> point is greater than </a:t>
            </a:r>
            <a:r>
              <a:rPr i="1" lang="pt-BR"/>
              <a:t>target</a:t>
            </a:r>
            <a:r>
              <a:rPr lang="pt-BR"/>
              <a:t>, repeat procedure with left half of list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If </a:t>
            </a:r>
            <a:r>
              <a:rPr i="1" lang="pt-BR"/>
              <a:t>middle</a:t>
            </a:r>
            <a:r>
              <a:rPr lang="pt-BR"/>
              <a:t> point is lower than </a:t>
            </a:r>
            <a:r>
              <a:rPr i="1" lang="pt-BR"/>
              <a:t>target</a:t>
            </a:r>
            <a:r>
              <a:rPr lang="pt-BR"/>
              <a:t>, repeat procedure with right half of list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Return -1 if </a:t>
            </a:r>
            <a:r>
              <a:rPr i="1" lang="pt-BR"/>
              <a:t>target</a:t>
            </a:r>
            <a:r>
              <a:rPr lang="pt-BR"/>
              <a:t> not found</a:t>
            </a:r>
            <a:endParaRPr/>
          </a:p>
        </p:txBody>
      </p:sp>
      <p:graphicFrame>
        <p:nvGraphicFramePr>
          <p:cNvPr id="296" name="Google Shape;296;p48"/>
          <p:cNvGraphicFramePr/>
          <p:nvPr/>
        </p:nvGraphicFramePr>
        <p:xfrm>
          <a:off x="952538" y="203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{9DE979EC-CEFC-4F5B-973A-C339DF1994AB}</a:tableStyleId>
              </a:tblPr>
              <a:tblGrid>
                <a:gridCol w="804325"/>
                <a:gridCol w="804325"/>
                <a:gridCol w="804325"/>
                <a:gridCol w="804325"/>
                <a:gridCol w="804325"/>
                <a:gridCol w="804325"/>
                <a:gridCol w="804325"/>
                <a:gridCol w="804325"/>
                <a:gridCol w="804325"/>
              </a:tblGrid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Index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Value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Binary Search</a:t>
            </a:r>
            <a:endParaRPr/>
          </a:p>
        </p:txBody>
      </p:sp>
      <p:pic>
        <p:nvPicPr>
          <p:cNvPr id="302" name="Google Shape;30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44338"/>
            <a:ext cx="4160324" cy="245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3650" y="1542538"/>
            <a:ext cx="4208649" cy="2058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Summarizing</a:t>
            </a:r>
            <a:endParaRPr/>
          </a:p>
        </p:txBody>
      </p:sp>
      <p:sp>
        <p:nvSpPr>
          <p:cNvPr id="309" name="Google Shape;309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The challenge in using recursion to solve a problem relies on identifying that a problem </a:t>
            </a:r>
            <a:r>
              <a:rPr i="1" lang="pt-BR"/>
              <a:t>CAN</a:t>
            </a:r>
            <a:r>
              <a:rPr lang="pt-BR"/>
              <a:t> be solved by recursion.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Determining the base case and make sure it will eventually be triggered, otherwise you'll end up with an infinite recursion call.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Important concept to understand, even if you don't use it in your future job.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Don't neglect recursion, sometimes an interview question can be solved by using it (and with fewer lines of code).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1"/>
          <p:cNvSpPr txBox="1"/>
          <p:nvPr>
            <p:ph type="title"/>
          </p:nvPr>
        </p:nvSpPr>
        <p:spPr>
          <a:xfrm>
            <a:off x="311700" y="2045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