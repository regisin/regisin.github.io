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41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40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4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slide+xml" PartName="/ppt/slides/slide40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F357F82-B525-4A21-B82F-F37E94B41F46}">
  <a:tblStyle styleId="{5F357F82-B525-4A21-B82F-F37E94B41F46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4.xml"/><Relationship Id="rId20" Type="http://schemas.openxmlformats.org/officeDocument/2006/relationships/slide" Target="slides/slide14.xml"/><Relationship Id="rId42" Type="http://schemas.openxmlformats.org/officeDocument/2006/relationships/slide" Target="slides/slide36.xml"/><Relationship Id="rId41" Type="http://schemas.openxmlformats.org/officeDocument/2006/relationships/slide" Target="slides/slide35.xml"/><Relationship Id="rId22" Type="http://schemas.openxmlformats.org/officeDocument/2006/relationships/slide" Target="slides/slide16.xml"/><Relationship Id="rId44" Type="http://schemas.openxmlformats.org/officeDocument/2006/relationships/slide" Target="slides/slide38.xml"/><Relationship Id="rId21" Type="http://schemas.openxmlformats.org/officeDocument/2006/relationships/slide" Target="slides/slide15.xml"/><Relationship Id="rId43" Type="http://schemas.openxmlformats.org/officeDocument/2006/relationships/slide" Target="slides/slide37.xml"/><Relationship Id="rId24" Type="http://schemas.openxmlformats.org/officeDocument/2006/relationships/slide" Target="slides/slide18.xml"/><Relationship Id="rId46" Type="http://schemas.openxmlformats.org/officeDocument/2006/relationships/slide" Target="slides/slide40.xml"/><Relationship Id="rId23" Type="http://schemas.openxmlformats.org/officeDocument/2006/relationships/slide" Target="slides/slide17.xml"/><Relationship Id="rId45" Type="http://schemas.openxmlformats.org/officeDocument/2006/relationships/slide" Target="slides/slide39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47" Type="http://schemas.openxmlformats.org/officeDocument/2006/relationships/slide" Target="slides/slide41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29" Type="http://schemas.openxmlformats.org/officeDocument/2006/relationships/slide" Target="slides/slide2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11" Type="http://schemas.openxmlformats.org/officeDocument/2006/relationships/slide" Target="slides/slide5.xml"/><Relationship Id="rId33" Type="http://schemas.openxmlformats.org/officeDocument/2006/relationships/slide" Target="slides/slide27.xml"/><Relationship Id="rId10" Type="http://schemas.openxmlformats.org/officeDocument/2006/relationships/slide" Target="slides/slide4.xml"/><Relationship Id="rId32" Type="http://schemas.openxmlformats.org/officeDocument/2006/relationships/slide" Target="slides/slide26.xml"/><Relationship Id="rId13" Type="http://schemas.openxmlformats.org/officeDocument/2006/relationships/slide" Target="slides/slide7.xml"/><Relationship Id="rId35" Type="http://schemas.openxmlformats.org/officeDocument/2006/relationships/slide" Target="slides/slide29.xml"/><Relationship Id="rId12" Type="http://schemas.openxmlformats.org/officeDocument/2006/relationships/slide" Target="slides/slide6.xml"/><Relationship Id="rId34" Type="http://schemas.openxmlformats.org/officeDocument/2006/relationships/slide" Target="slides/slide28.xml"/><Relationship Id="rId15" Type="http://schemas.openxmlformats.org/officeDocument/2006/relationships/slide" Target="slides/slide9.xml"/><Relationship Id="rId37" Type="http://schemas.openxmlformats.org/officeDocument/2006/relationships/slide" Target="slides/slide31.xml"/><Relationship Id="rId14" Type="http://schemas.openxmlformats.org/officeDocument/2006/relationships/slide" Target="slides/slide8.xml"/><Relationship Id="rId36" Type="http://schemas.openxmlformats.org/officeDocument/2006/relationships/slide" Target="slides/slide30.xml"/><Relationship Id="rId17" Type="http://schemas.openxmlformats.org/officeDocument/2006/relationships/slide" Target="slides/slide11.xml"/><Relationship Id="rId39" Type="http://schemas.openxmlformats.org/officeDocument/2006/relationships/slide" Target="slides/slide33.xml"/><Relationship Id="rId16" Type="http://schemas.openxmlformats.org/officeDocument/2006/relationships/slide" Target="slides/slide10.xml"/><Relationship Id="rId38" Type="http://schemas.openxmlformats.org/officeDocument/2006/relationships/slide" Target="slides/slide32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/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4fc8d547cd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4fc8d547cd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g4fc8d547cd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" name="Google Shape;63;g4fc8d547cd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4fc8d547cd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" name="Google Shape;69;g4fc8d547cd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4fc8d547cd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" name="Google Shape;76;g4fc8d547cd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4fc8d547cd_0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4fc8d547cd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g4fc8d547cd_0_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" name="Google Shape;88;g4fc8d547cd_0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4fc8d547cd_0_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" name="Google Shape;95;g4fc8d547cd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g4fc8d547cd_0_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5" name="Google Shape;105;g4fc8d547cd_0_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4fc8d547cd_0_28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2" name="Google Shape;112;g4fc8d547cd_0_28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4fc8d547cd_0_29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" name="Google Shape;119;g4fc8d547cd_0_29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4fc8d547cd_0_5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5" name="Google Shape;125;g4fc8d547cd_0_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g4fc8d547cd_0_5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1" name="Google Shape;131;g4fc8d547cd_0_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g4fc8d547cd_0_6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9" name="Google Shape;139;g4fc8d547cd_0_6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g4fc8d547cd_0_3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8" name="Google Shape;148;g4fc8d547cd_0_3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g4fc8d547cd_0_7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7" name="Google Shape;157;g4fc8d547cd_0_7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g4fc8d547cd_0_7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3" name="Google Shape;163;g4fc8d547cd_0_7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4fc8d547cd_0_8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4fc8d547cd_0_8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g4fc8d547cd_0_8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9" name="Google Shape;179;g4fc8d547cd_0_8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4fc8d547cd_0_9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6" name="Google Shape;186;g4fc8d547cd_0_9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4fc8d547cd_0_9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2" name="Google Shape;192;g4fc8d547cd_0_9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g4fc8d547cd_0_10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8" name="Google Shape;198;g4fc8d547cd_0_10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4fc8d547cd_0_10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" name="Google Shape;204;g4fc8d547cd_0_10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g4fc8d547cd_0_1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1" name="Google Shape;211;g4fc8d547cd_0_1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g4fc8d547cd_0_1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7" name="Google Shape;217;g4fc8d547cd_0_1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g4fc8d547cd_0_1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5" name="Google Shape;225;g4fc8d547cd_0_1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g4fc8d547cd_0_1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1" name="Google Shape;231;g4fc8d547cd_0_1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g4fc8d547cd_0_1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7" name="Google Shape;237;g4fc8d547cd_0_1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g4fc8d547cd_0_1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9" name="Google Shape;249;g4fc8d547cd_0_1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g4fc8d547cd_0_1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4" name="Google Shape;254;g4fc8d547cd_0_1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g4fc8d547cd_0_2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0" name="Google Shape;260;g4fc8d547cd_0_2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g4fc8d547cd_0_2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6" name="Google Shape;266;g4fc8d547cd_0_2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g4fc8d547cd_0_35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4" name="Google Shape;274;g4fc8d547cd_0_35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g4fc8d547cd_0_20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2" name="Google Shape;282;g4fc8d547cd_0_20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6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g4fc8d547cd_0_2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8" name="Google Shape;288;g4fc8d547cd_0_2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g4fc8d547cd_0_36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5" name="Google Shape;295;g4fc8d547cd_0_36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g4fc8d547cd_0_38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1" name="Google Shape;301;g4fc8d547cd_0_38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4fc8d547cd_0_37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4fc8d547cd_0_37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g4fc8d547cd_0_37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5" name="Google Shape;315;g4fc8d547cd_0_37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4fc8d547cd_0_40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4fc8d547cd_0_40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4fc8d547cd_0_2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8" name="Google Shape;328;g4fc8d547cd_0_2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/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/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/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/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/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/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/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/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/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/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/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/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/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/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/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/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/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/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/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/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jp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2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4.png"/><Relationship Id="rId6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3.png"/><Relationship Id="rId4" Type="http://schemas.openxmlformats.org/officeDocument/2006/relationships/image" Target="../media/image10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0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Relationship Id="rId4" Type="http://schemas.openxmlformats.org/officeDocument/2006/relationships/image" Target="../media/image2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5.png"/><Relationship Id="rId4" Type="http://schemas.openxmlformats.org/officeDocument/2006/relationships/image" Target="../media/image11.png"/><Relationship Id="rId5" Type="http://schemas.openxmlformats.org/officeDocument/2006/relationships/image" Target="../media/image33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2.png"/><Relationship Id="rId4" Type="http://schemas.openxmlformats.org/officeDocument/2006/relationships/image" Target="../media/image18.png"/><Relationship Id="rId5" Type="http://schemas.openxmlformats.org/officeDocument/2006/relationships/image" Target="../media/image22.png"/><Relationship Id="rId6" Type="http://schemas.openxmlformats.org/officeDocument/2006/relationships/image" Target="../media/image39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7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5.png"/><Relationship Id="rId4" Type="http://schemas.openxmlformats.org/officeDocument/2006/relationships/image" Target="../media/image14.png"/><Relationship Id="rId5" Type="http://schemas.openxmlformats.org/officeDocument/2006/relationships/image" Target="../media/image17.png"/><Relationship Id="rId6" Type="http://schemas.openxmlformats.org/officeDocument/2006/relationships/image" Target="../media/image16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9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46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4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44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41.pn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23.jpg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25.png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24.png"/><Relationship Id="rId4" Type="http://schemas.openxmlformats.org/officeDocument/2006/relationships/image" Target="../media/image26.png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30.png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38.png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31.png"/><Relationship Id="rId4" Type="http://schemas.openxmlformats.org/officeDocument/2006/relationships/hyperlink" Target="https://www.geeksforgeeks.org/iterative-tower-of-hanoi/" TargetMode="External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43.png"/><Relationship Id="rId4" Type="http://schemas.openxmlformats.org/officeDocument/2006/relationships/image" Target="../media/image37.png"/></Relationships>
</file>

<file path=ppt/slides/_rels/slide4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1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Introduction to Recursion</a:t>
            </a:r>
            <a:endParaRPr/>
          </a:p>
        </p:txBody>
      </p:sp>
      <p:sp>
        <p:nvSpPr>
          <p:cNvPr id="55" name="Google Shape;55;p13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" name="Google Shape;60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55675" y="152400"/>
            <a:ext cx="3632657" cy="4838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What is recursion?</a:t>
            </a:r>
            <a:endParaRPr/>
          </a:p>
        </p:txBody>
      </p:sp>
      <p:sp>
        <p:nvSpPr>
          <p:cNvPr id="66" name="Google Shape;66;p1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pt-BR"/>
              <a:t>A recursive function is a function that calls itself directly or indirectly.</a:t>
            </a:r>
            <a:endParaRPr/>
          </a:p>
          <a:p>
            <a:pPr indent="0" lvl="0" marL="45720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-342900" lvl="0" marL="457200" rtl="0" algn="l">
              <a:spcBef>
                <a:spcPts val="1600"/>
              </a:spcBef>
              <a:spcAft>
                <a:spcPts val="0"/>
              </a:spcAft>
              <a:buSzPts val="1800"/>
              <a:buChar char="●"/>
            </a:pPr>
            <a:r>
              <a:rPr b="1" lang="pt-BR"/>
              <a:t>Direct recursion</a:t>
            </a:r>
            <a:r>
              <a:rPr lang="pt-BR"/>
              <a:t>: when the function calls itself in the same function.</a:t>
            </a:r>
            <a:endParaRPr/>
          </a:p>
          <a:p>
            <a:pPr indent="0" lvl="0" marL="45720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-342900" lvl="0" marL="457200" rtl="0" algn="l">
              <a:spcBef>
                <a:spcPts val="1600"/>
              </a:spcBef>
              <a:spcAft>
                <a:spcPts val="0"/>
              </a:spcAft>
              <a:buSzPts val="1800"/>
              <a:buChar char="●"/>
            </a:pPr>
            <a:r>
              <a:rPr b="1" lang="pt-BR"/>
              <a:t>Indirect recursion</a:t>
            </a:r>
            <a:r>
              <a:rPr lang="pt-BR"/>
              <a:t>: when there is a chain of two or more function calls in which the original function is called again.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Why and when use recursion?</a:t>
            </a:r>
            <a:endParaRPr/>
          </a:p>
        </p:txBody>
      </p:sp>
      <p:sp>
        <p:nvSpPr>
          <p:cNvPr id="72" name="Google Shape;72;p16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pt-BR"/>
              <a:t>Recursion breaks the original problem into smaller, identical sub-problems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pt-BR"/>
              <a:t>Divide and conquer approach.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pt-BR"/>
              <a:t>Recursive solutions tend to be inefficient, impractical. </a:t>
            </a:r>
            <a:r>
              <a:rPr lang="pt-BR"/>
              <a:t>Typically, the iterative solution for the same problem is more efficient. </a:t>
            </a:r>
            <a:r>
              <a:rPr lang="pt-BR">
                <a:solidFill>
                  <a:srgbClr val="FF0000"/>
                </a:solidFill>
              </a:rPr>
              <a:t>Rule of thumb: avoid them!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pt-BR"/>
              <a:t>Can have infinite sequence of function calls (infinite recursion), similar to infinite loop, NOT GOOD.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pt-BR"/>
              <a:t>Many complex problems can lead to simple, elegant recursive solutions. Ex.:</a:t>
            </a:r>
            <a:endParaRPr/>
          </a:p>
        </p:txBody>
      </p:sp>
      <p:pic>
        <p:nvPicPr>
          <p:cNvPr id="73" name="Google Shape;73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25352" y="3437325"/>
            <a:ext cx="4830075" cy="1726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Recursive solutions</a:t>
            </a:r>
            <a:endParaRPr/>
          </a:p>
        </p:txBody>
      </p:sp>
      <p:sp>
        <p:nvSpPr>
          <p:cNvPr id="79" name="Google Shape;79;p17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pt-BR"/>
              <a:t>A recursive solution calls itself to solve a smaller sized problem than the original one.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pt-BR"/>
              <a:t>Must have at least one </a:t>
            </a:r>
            <a:r>
              <a:rPr lang="pt-BR" u="sng"/>
              <a:t>base case</a:t>
            </a:r>
            <a:r>
              <a:rPr lang="pt-BR"/>
              <a:t>, which will avoid infinite recursive calls.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pt-BR"/>
              <a:t>The </a:t>
            </a:r>
            <a:r>
              <a:rPr lang="pt-BR" u="sng"/>
              <a:t>general case</a:t>
            </a:r>
            <a:r>
              <a:rPr lang="pt-BR"/>
              <a:t> is the part of the solution that will call itself.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pt-BR"/>
              <a:t>Eventually the problem will be so small that it will be considered the base case, which in turn will return a concrete result.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Recursive solutions</a:t>
            </a:r>
            <a:endParaRPr/>
          </a:p>
        </p:txBody>
      </p:sp>
      <p:sp>
        <p:nvSpPr>
          <p:cNvPr id="85" name="Google Shape;85;p18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Questions that help when constructing a recursion solution:</a:t>
            </a:r>
            <a:endParaRPr/>
          </a:p>
          <a:p>
            <a:pPr indent="-342900" lvl="0" marL="457200" rtl="0" algn="l">
              <a:spcBef>
                <a:spcPts val="1600"/>
              </a:spcBef>
              <a:spcAft>
                <a:spcPts val="0"/>
              </a:spcAft>
              <a:buSzPts val="1800"/>
              <a:buChar char="●"/>
            </a:pPr>
            <a:r>
              <a:rPr lang="pt-BR"/>
              <a:t>Can the problem be solved by dividing it into smaller problems of the same type?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pt-BR"/>
              <a:t>How would each recursive call reduce the size of the problem?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pt-BR"/>
              <a:t>What is the smallest possible size of this problem? aka the </a:t>
            </a:r>
            <a:r>
              <a:rPr lang="pt-BR" u="sng"/>
              <a:t>base case</a:t>
            </a:r>
            <a:r>
              <a:rPr lang="pt-BR"/>
              <a:t>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pt-BR"/>
              <a:t>As the problem size diminishes, will it eventually reach the base case?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Recursive solutions: general format</a:t>
            </a:r>
            <a:endParaRPr/>
          </a:p>
        </p:txBody>
      </p:sp>
      <p:sp>
        <p:nvSpPr>
          <p:cNvPr id="91" name="Google Shape;91;p19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pt-BR"/>
              <a:t>Each successive recursive call should bring you closer to a situation in which the answer is known.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pt-BR"/>
              <a:t>Each recursive algorithm must have at least one </a:t>
            </a:r>
            <a:r>
              <a:rPr lang="pt-BR" u="sng"/>
              <a:t>base case</a:t>
            </a:r>
            <a:r>
              <a:rPr lang="pt-BR"/>
              <a:t> (stopping criteria) and one </a:t>
            </a:r>
            <a:r>
              <a:rPr lang="pt-BR" u="sng"/>
              <a:t>general (recursive) case</a:t>
            </a:r>
            <a:r>
              <a:rPr lang="pt-BR"/>
              <a:t>.</a:t>
            </a:r>
            <a:endParaRPr/>
          </a:p>
          <a:p>
            <a:pPr indent="0" lvl="0" marL="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rPr lang="pt-BR"/>
              <a:t>Pseudo-code:</a:t>
            </a:r>
            <a:endParaRPr/>
          </a:p>
          <a:p>
            <a:pPr indent="0" lvl="0" marL="0" rtl="0" algn="l">
              <a:spcBef>
                <a:spcPts val="1600"/>
              </a:spcBef>
              <a:spcAft>
                <a:spcPts val="1600"/>
              </a:spcAft>
              <a:buNone/>
            </a:pPr>
            <a:r>
              <a:t/>
            </a:r>
            <a:endParaRPr/>
          </a:p>
        </p:txBody>
      </p:sp>
      <p:pic>
        <p:nvPicPr>
          <p:cNvPr id="92" name="Google Shape;92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14500" y="3159175"/>
            <a:ext cx="5715000" cy="1409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2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The Factorial of </a:t>
            </a:r>
            <a:r>
              <a:rPr i="1" lang="pt-BR"/>
              <a:t>n</a:t>
            </a:r>
            <a:endParaRPr i="1"/>
          </a:p>
        </p:txBody>
      </p:sp>
      <p:sp>
        <p:nvSpPr>
          <p:cNvPr id="98" name="Google Shape;98;p20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pt-BR"/>
              <a:t>An iterative solution</a:t>
            </a:r>
            <a:endParaRPr/>
          </a:p>
          <a:p>
            <a:pPr indent="0" lvl="0" marL="45720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45720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-342900" lvl="0" marL="457200" rtl="0" algn="l">
              <a:spcBef>
                <a:spcPts val="1600"/>
              </a:spcBef>
              <a:spcAft>
                <a:spcPts val="0"/>
              </a:spcAft>
              <a:buSzPts val="1800"/>
              <a:buChar char="●"/>
            </a:pPr>
            <a:r>
              <a:rPr lang="pt-BR"/>
              <a:t>A recursive solution</a:t>
            </a:r>
            <a:endParaRPr/>
          </a:p>
          <a:p>
            <a:pPr indent="0" lvl="0" marL="45720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45720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600"/>
              </a:spcBef>
              <a:spcAft>
                <a:spcPts val="1600"/>
              </a:spcAft>
              <a:buNone/>
            </a:pPr>
            <a:r>
              <a:rPr lang="pt-BR">
                <a:solidFill>
                  <a:srgbClr val="FF0000"/>
                </a:solidFill>
              </a:rPr>
              <a:t>Note: avoid using a recursion if there is a simple efficient iterative solution.</a:t>
            </a:r>
            <a:endParaRPr>
              <a:solidFill>
                <a:srgbClr val="FF0000"/>
              </a:solidFill>
            </a:endParaRPr>
          </a:p>
        </p:txBody>
      </p:sp>
      <p:pic>
        <p:nvPicPr>
          <p:cNvPr id="99" name="Google Shape;99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20525" y="991925"/>
            <a:ext cx="2266950" cy="161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2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1700" y="1549228"/>
            <a:ext cx="6435926" cy="10225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2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11703" y="3103250"/>
            <a:ext cx="4090145" cy="10225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20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4127525" y="621838"/>
            <a:ext cx="2886075" cy="2190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Recursive query</a:t>
            </a:r>
            <a:endParaRPr/>
          </a:p>
        </p:txBody>
      </p:sp>
      <p:pic>
        <p:nvPicPr>
          <p:cNvPr id="108" name="Google Shape;108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1700" y="1017725"/>
            <a:ext cx="2862525" cy="3293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227625" y="2118026"/>
            <a:ext cx="4604675" cy="28730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Recursive query</a:t>
            </a:r>
            <a:endParaRPr/>
          </a:p>
        </p:txBody>
      </p:sp>
      <p:pic>
        <p:nvPicPr>
          <p:cNvPr id="115" name="Google Shape;115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1700" y="1017725"/>
            <a:ext cx="3913150" cy="225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6" name="Google Shape;116;p2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217950" y="2900500"/>
            <a:ext cx="4614351" cy="19837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Recursive solution</a:t>
            </a:r>
            <a:endParaRPr/>
          </a:p>
        </p:txBody>
      </p:sp>
      <p:pic>
        <p:nvPicPr>
          <p:cNvPr id="122" name="Google Shape;122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44338" y="1017725"/>
            <a:ext cx="8255317" cy="3820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Recursive valued function: factorial</a:t>
            </a:r>
            <a:endParaRPr/>
          </a:p>
        </p:txBody>
      </p:sp>
      <p:pic>
        <p:nvPicPr>
          <p:cNvPr id="128" name="Google Shape;128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48563" y="1017725"/>
            <a:ext cx="7246874" cy="38456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2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Recursive call chain</a:t>
            </a:r>
            <a:endParaRPr/>
          </a:p>
        </p:txBody>
      </p:sp>
      <p:pic>
        <p:nvPicPr>
          <p:cNvPr id="134" name="Google Shape;134;p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1698" y="990325"/>
            <a:ext cx="5260176" cy="3162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5" name="Google Shape;135;p2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965274" y="794100"/>
            <a:ext cx="2867025" cy="1343025"/>
          </a:xfrm>
          <a:prstGeom prst="rect">
            <a:avLst/>
          </a:prstGeom>
          <a:noFill/>
          <a:ln>
            <a:noFill/>
          </a:ln>
        </p:spPr>
      </p:pic>
      <p:sp>
        <p:nvSpPr>
          <p:cNvPr id="136" name="Google Shape;136;p25"/>
          <p:cNvSpPr txBox="1"/>
          <p:nvPr>
            <p:ph idx="1" type="body"/>
          </p:nvPr>
        </p:nvSpPr>
        <p:spPr>
          <a:xfrm>
            <a:off x="311700" y="13048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600"/>
              </a:spcBef>
              <a:spcAft>
                <a:spcPts val="1600"/>
              </a:spcAft>
              <a:buNone/>
            </a:pPr>
            <a:r>
              <a:rPr lang="pt-BR"/>
              <a:t>Note: all the unsolved calls will remain in memory until the base case is reached!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Recursive void function: write a string backwards</a:t>
            </a:r>
            <a:endParaRPr/>
          </a:p>
        </p:txBody>
      </p:sp>
      <p:pic>
        <p:nvPicPr>
          <p:cNvPr id="142" name="Google Shape;142;p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1700" y="1023524"/>
            <a:ext cx="3814701" cy="2958324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2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359025" y="1023525"/>
            <a:ext cx="2860475" cy="1840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26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11700" y="4075850"/>
            <a:ext cx="5335099" cy="839050"/>
          </a:xfrm>
          <a:prstGeom prst="rect">
            <a:avLst/>
          </a:prstGeom>
          <a:noFill/>
          <a:ln>
            <a:noFill/>
          </a:ln>
        </p:spPr>
      </p:pic>
      <p:sp>
        <p:nvSpPr>
          <p:cNvPr id="145" name="Google Shape;145;p26"/>
          <p:cNvSpPr txBox="1"/>
          <p:nvPr>
            <p:ph idx="1" type="body"/>
          </p:nvPr>
        </p:nvSpPr>
        <p:spPr>
          <a:xfrm>
            <a:off x="5646800" y="2881075"/>
            <a:ext cx="3185400" cy="1840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600"/>
              </a:spcAft>
              <a:buNone/>
            </a:pPr>
            <a:r>
              <a:rPr lang="pt-BR"/>
              <a:t>Note: Even though there is no return statement, all calls will remain in memory until base case is reached.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2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The Fibonacci Sequence</a:t>
            </a:r>
            <a:endParaRPr i="1"/>
          </a:p>
        </p:txBody>
      </p:sp>
      <p:pic>
        <p:nvPicPr>
          <p:cNvPr id="151" name="Google Shape;151;p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60925" y="636138"/>
            <a:ext cx="1438275" cy="190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2" name="Google Shape;152;p2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653925" y="963350"/>
            <a:ext cx="3781425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3" name="Google Shape;153;p27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784825" y="1376525"/>
            <a:ext cx="2971275" cy="35655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4" name="Google Shape;154;p27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371650" y="1893247"/>
            <a:ext cx="4419600" cy="203280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pt-BR"/>
              <a:t>The Fibonacci Sequence</a:t>
            </a:r>
            <a:endParaRPr/>
          </a:p>
        </p:txBody>
      </p:sp>
      <p:pic>
        <p:nvPicPr>
          <p:cNvPr id="160" name="Google Shape;160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21375" y="1194950"/>
            <a:ext cx="6901250" cy="33617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The Fibonacci Sequence: generated recursive calls</a:t>
            </a:r>
            <a:endParaRPr/>
          </a:p>
        </p:txBody>
      </p:sp>
      <p:pic>
        <p:nvPicPr>
          <p:cNvPr id="166" name="Google Shape;166;p2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16100" y="1338875"/>
            <a:ext cx="6511799" cy="32277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3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The n-choose-k problem</a:t>
            </a:r>
            <a:endParaRPr/>
          </a:p>
        </p:txBody>
      </p:sp>
      <p:sp>
        <p:nvSpPr>
          <p:cNvPr id="172" name="Google Shape;172;p30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pt-BR"/>
              <a:t>Given a set of </a:t>
            </a:r>
            <a:r>
              <a:rPr i="1" lang="pt-BR"/>
              <a:t>n</a:t>
            </a:r>
            <a:r>
              <a:rPr lang="pt-BR"/>
              <a:t> things, how many ways can you choose </a:t>
            </a:r>
            <a:r>
              <a:rPr i="1" lang="pt-BR"/>
              <a:t>k</a:t>
            </a:r>
            <a:r>
              <a:rPr lang="pt-BR"/>
              <a:t> of them, given that </a:t>
            </a:r>
            <a:r>
              <a:rPr i="1" lang="pt-BR"/>
              <a:t>n &gt;= k</a:t>
            </a:r>
            <a:r>
              <a:rPr lang="pt-BR"/>
              <a:t>?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pt-BR"/>
              <a:t>"A band wants to tour </a:t>
            </a:r>
            <a:r>
              <a:rPr i="1" lang="pt-BR"/>
              <a:t>k</a:t>
            </a:r>
            <a:r>
              <a:rPr lang="pt-BR"/>
              <a:t> out of </a:t>
            </a:r>
            <a:r>
              <a:rPr i="1" lang="pt-BR"/>
              <a:t>n</a:t>
            </a:r>
            <a:r>
              <a:rPr lang="pt-BR"/>
              <a:t> cities."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pt-BR"/>
              <a:t>The order is not an issue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pt-BR"/>
              <a:t>Let </a:t>
            </a:r>
            <a:r>
              <a:rPr i="1" lang="pt-BR"/>
              <a:t>g(n, k)</a:t>
            </a:r>
            <a:r>
              <a:rPr lang="pt-BR"/>
              <a:t> be the number of groups of </a:t>
            </a:r>
            <a:r>
              <a:rPr i="1" lang="pt-BR"/>
              <a:t>k</a:t>
            </a:r>
            <a:r>
              <a:rPr lang="pt-BR"/>
              <a:t> cities chosen from </a:t>
            </a:r>
            <a:r>
              <a:rPr i="1" lang="pt-BR"/>
              <a:t>n</a:t>
            </a:r>
            <a:r>
              <a:rPr lang="pt-BR"/>
              <a:t>, then:</a:t>
            </a:r>
            <a:endParaRPr/>
          </a:p>
          <a:p>
            <a:pPr indent="0" lvl="0" marL="45720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-342900" lvl="0" marL="457200" rtl="0" algn="l">
              <a:spcBef>
                <a:spcPts val="1600"/>
              </a:spcBef>
              <a:spcAft>
                <a:spcPts val="0"/>
              </a:spcAft>
              <a:buSzPts val="1800"/>
              <a:buChar char="●"/>
            </a:pPr>
            <a:r>
              <a:rPr lang="pt-BR"/>
              <a:t>Base cases:</a:t>
            </a:r>
            <a:endParaRPr/>
          </a:p>
        </p:txBody>
      </p:sp>
      <p:pic>
        <p:nvPicPr>
          <p:cNvPr id="173" name="Google Shape;173;p3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10275" y="596479"/>
            <a:ext cx="1801600" cy="357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4" name="Google Shape;174;p3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560950" y="596481"/>
            <a:ext cx="1072725" cy="3575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5" name="Google Shape;175;p3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203675" y="2721927"/>
            <a:ext cx="3330600" cy="401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6" name="Google Shape;176;p30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2297750" y="3460450"/>
            <a:ext cx="1142450" cy="7570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3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Combinations</a:t>
            </a:r>
            <a:endParaRPr/>
          </a:p>
        </p:txBody>
      </p:sp>
      <p:sp>
        <p:nvSpPr>
          <p:cNvPr id="182" name="Google Shape;182;p3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600"/>
              </a:spcAft>
              <a:buNone/>
            </a:pPr>
            <a:r>
              <a:rPr lang="pt-BR"/>
              <a:t>H</a:t>
            </a:r>
            <a:r>
              <a:rPr lang="pt-BR"/>
              <a:t>ow many combinations of a certain size can be made out of a total group of elements?</a:t>
            </a:r>
            <a:endParaRPr/>
          </a:p>
        </p:txBody>
      </p:sp>
      <p:pic>
        <p:nvPicPr>
          <p:cNvPr id="183" name="Google Shape;183;p3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86725" y="2448077"/>
            <a:ext cx="5970549" cy="15384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3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n-choose-k solution</a:t>
            </a:r>
            <a:endParaRPr/>
          </a:p>
        </p:txBody>
      </p:sp>
      <p:pic>
        <p:nvPicPr>
          <p:cNvPr id="189" name="Google Shape;189;p3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12250" y="1208875"/>
            <a:ext cx="5719501" cy="3369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3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Calls generated (</a:t>
            </a:r>
            <a:r>
              <a:rPr i="1" lang="pt-BR"/>
              <a:t>n=4, k=2</a:t>
            </a:r>
            <a:r>
              <a:rPr lang="pt-BR"/>
              <a:t>)</a:t>
            </a:r>
            <a:endParaRPr/>
          </a:p>
        </p:txBody>
      </p:sp>
      <p:pic>
        <p:nvPicPr>
          <p:cNvPr id="195" name="Google Shape;195;p3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68835" y="1185875"/>
            <a:ext cx="5606329" cy="3412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3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Tail Recursion</a:t>
            </a:r>
            <a:endParaRPr/>
          </a:p>
        </p:txBody>
      </p:sp>
      <p:sp>
        <p:nvSpPr>
          <p:cNvPr id="201" name="Google Shape;201;p3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pt-BR"/>
              <a:t>When a function can pre-compute the result and pass it along to the subsequent recursive calls. The next recursive call simply updates the pre-computed value.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pt-BR"/>
              <a:t>Tail recursive solutions may need less memory, depending on the cimpiler.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pt-BR"/>
              <a:t>Tail recursion can be replaced by iteration, effectivelly removing recursion from the solution.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3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Cumulative</a:t>
            </a:r>
            <a:r>
              <a:rPr lang="pt-BR"/>
              <a:t> sum</a:t>
            </a:r>
            <a:endParaRPr/>
          </a:p>
        </p:txBody>
      </p:sp>
      <p:sp>
        <p:nvSpPr>
          <p:cNvPr id="207" name="Google Shape;207;p3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pt-BR"/>
              <a:t>The sum of the first </a:t>
            </a:r>
            <a:r>
              <a:rPr i="1" lang="pt-BR"/>
              <a:t>N</a:t>
            </a:r>
            <a:r>
              <a:rPr lang="pt-BR"/>
              <a:t> integers: </a:t>
            </a:r>
            <a:r>
              <a:rPr i="1" lang="pt-BR"/>
              <a:t>f(n) = n + (n-1) + (n-2) + ... + 1, n &gt;=1</a:t>
            </a:r>
            <a:endParaRPr i="1"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pt-BR"/>
              <a:t>Typical recursive solution:</a:t>
            </a:r>
            <a:endParaRPr/>
          </a:p>
          <a:p>
            <a:pPr indent="0" lvl="0" marL="457200" rtl="0" algn="l">
              <a:spcBef>
                <a:spcPts val="1600"/>
              </a:spcBef>
              <a:spcAft>
                <a:spcPts val="1600"/>
              </a:spcAft>
              <a:buNone/>
            </a:pPr>
            <a:r>
              <a:t/>
            </a:r>
            <a:endParaRPr/>
          </a:p>
        </p:txBody>
      </p:sp>
      <p:pic>
        <p:nvPicPr>
          <p:cNvPr id="208" name="Google Shape;208;p3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28525" y="1853000"/>
            <a:ext cx="4486950" cy="30727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3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Cumulative sum: tail-recursive solution</a:t>
            </a:r>
            <a:endParaRPr/>
          </a:p>
        </p:txBody>
      </p:sp>
      <p:pic>
        <p:nvPicPr>
          <p:cNvPr id="214" name="Google Shape;214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52538" y="1246325"/>
            <a:ext cx="5438925" cy="3282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3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Call comparison</a:t>
            </a:r>
            <a:endParaRPr/>
          </a:p>
        </p:txBody>
      </p:sp>
      <p:pic>
        <p:nvPicPr>
          <p:cNvPr id="220" name="Google Shape;220;p3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1700" y="1027250"/>
            <a:ext cx="4591050" cy="2552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1" name="Google Shape;221;p3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203400" y="1017725"/>
            <a:ext cx="2628900" cy="2571750"/>
          </a:xfrm>
          <a:prstGeom prst="rect">
            <a:avLst/>
          </a:prstGeom>
          <a:noFill/>
          <a:ln>
            <a:noFill/>
          </a:ln>
        </p:spPr>
      </p:pic>
      <p:sp>
        <p:nvSpPr>
          <p:cNvPr id="222" name="Google Shape;222;p37"/>
          <p:cNvSpPr txBox="1"/>
          <p:nvPr>
            <p:ph idx="1" type="body"/>
          </p:nvPr>
        </p:nvSpPr>
        <p:spPr>
          <a:xfrm>
            <a:off x="311700" y="3773700"/>
            <a:ext cx="8520600" cy="795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600"/>
              </a:spcAft>
              <a:buNone/>
            </a:pPr>
            <a:r>
              <a:rPr lang="pt-BR"/>
              <a:t>In the conventional way, the program has to wait for all the recursive calls to finish and then actually executing the sum. The tail-recursive updates the result at each recursive call.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3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Iterative solution</a:t>
            </a:r>
            <a:endParaRPr/>
          </a:p>
        </p:txBody>
      </p:sp>
      <p:pic>
        <p:nvPicPr>
          <p:cNvPr id="228" name="Google Shape;228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15913" y="1017725"/>
            <a:ext cx="5712169" cy="36304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3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Recursion and Efficiency</a:t>
            </a:r>
            <a:endParaRPr/>
          </a:p>
        </p:txBody>
      </p:sp>
      <p:sp>
        <p:nvSpPr>
          <p:cNvPr id="234" name="Google Shape;234;p39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pt-BR"/>
              <a:t>Factors that contribute to inefficiency: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pt-BR"/>
              <a:t>Overhead associated with function calls.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pt-BR"/>
              <a:t>Repeated recursive calls: some algorithms execute the same task multiple times</a:t>
            </a:r>
            <a:endParaRPr/>
          </a:p>
          <a:p>
            <a:pPr indent="-317500" lvl="2" marL="1371600" rtl="0" algn="l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pt-BR"/>
              <a:t>e.g. the Fibonacci sequence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pt-BR"/>
              <a:t>Keep in mind: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pt-BR"/>
              <a:t>Recursion can clarify complex solutions. However ...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pt-BR"/>
              <a:t>Clear, efficient, iterative solutions are better.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pt-BR"/>
              <a:t>Why do we need to know recursion at all?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pt-BR"/>
              <a:t>Interviews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pt-BR"/>
              <a:t>Sometimes quicker to find a first solution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4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When to use recursive solution</a:t>
            </a:r>
            <a:endParaRPr/>
          </a:p>
        </p:txBody>
      </p:sp>
      <p:sp>
        <p:nvSpPr>
          <p:cNvPr id="240" name="Google Shape;240;p40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pt-BR"/>
              <a:t>When the depth of the recursive calls is relatively "</a:t>
            </a:r>
            <a:r>
              <a:rPr b="1" lang="pt-BR"/>
              <a:t>shallow</a:t>
            </a:r>
            <a:r>
              <a:rPr lang="pt-BR"/>
              <a:t>" compared to the size of the problem.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pt-BR"/>
              <a:t>When the recursive solution does </a:t>
            </a:r>
            <a:r>
              <a:rPr b="1" lang="pt-BR"/>
              <a:t>less</a:t>
            </a:r>
            <a:r>
              <a:rPr lang="pt-BR"/>
              <a:t> work than its iterative counterpart.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pt-BR"/>
              <a:t>When the recursive version is </a:t>
            </a:r>
            <a:r>
              <a:rPr b="1" lang="pt-BR"/>
              <a:t>much</a:t>
            </a:r>
            <a:r>
              <a:rPr lang="pt-BR"/>
              <a:t> shorter and simpler than the non-recursive solution.</a:t>
            </a:r>
            <a:endParaRPr/>
          </a:p>
        </p:txBody>
      </p:sp>
      <p:sp>
        <p:nvSpPr>
          <p:cNvPr id="241" name="Google Shape;241;p40"/>
          <p:cNvSpPr/>
          <p:nvPr/>
        </p:nvSpPr>
        <p:spPr>
          <a:xfrm>
            <a:off x="311700" y="3421700"/>
            <a:ext cx="2229300" cy="893100"/>
          </a:xfrm>
          <a:prstGeom prst="ellipse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2" name="Google Shape;242;p40"/>
          <p:cNvSpPr/>
          <p:nvPr/>
        </p:nvSpPr>
        <p:spPr>
          <a:xfrm>
            <a:off x="3457350" y="3421700"/>
            <a:ext cx="2229300" cy="893100"/>
          </a:xfrm>
          <a:prstGeom prst="ellipse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3" name="Google Shape;243;p40"/>
          <p:cNvSpPr/>
          <p:nvPr/>
        </p:nvSpPr>
        <p:spPr>
          <a:xfrm>
            <a:off x="6603000" y="3421700"/>
            <a:ext cx="2229300" cy="893100"/>
          </a:xfrm>
          <a:prstGeom prst="ellipse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4" name="Google Shape;244;p40"/>
          <p:cNvSpPr txBox="1"/>
          <p:nvPr/>
        </p:nvSpPr>
        <p:spPr>
          <a:xfrm>
            <a:off x="553500" y="3642650"/>
            <a:ext cx="1745700" cy="451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SHALLOW DEPTH</a:t>
            </a:r>
            <a:endParaRPr/>
          </a:p>
        </p:txBody>
      </p:sp>
      <p:sp>
        <p:nvSpPr>
          <p:cNvPr id="245" name="Google Shape;245;p40"/>
          <p:cNvSpPr txBox="1"/>
          <p:nvPr/>
        </p:nvSpPr>
        <p:spPr>
          <a:xfrm>
            <a:off x="3699150" y="3642650"/>
            <a:ext cx="1745700" cy="451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EFFICIENCY</a:t>
            </a:r>
            <a:endParaRPr/>
          </a:p>
        </p:txBody>
      </p:sp>
      <p:sp>
        <p:nvSpPr>
          <p:cNvPr id="246" name="Google Shape;246;p40"/>
          <p:cNvSpPr txBox="1"/>
          <p:nvPr/>
        </p:nvSpPr>
        <p:spPr>
          <a:xfrm>
            <a:off x="6844800" y="3642650"/>
            <a:ext cx="1745700" cy="451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CLARITY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1" name="Google Shape;251;p4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67000" y="185725"/>
            <a:ext cx="3810000" cy="47720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4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Recursion is not difficult, needs practice!</a:t>
            </a:r>
            <a:endParaRPr/>
          </a:p>
        </p:txBody>
      </p:sp>
      <p:sp>
        <p:nvSpPr>
          <p:cNvPr id="257" name="Google Shape;257;p42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Some more examples:</a:t>
            </a:r>
            <a:endParaRPr/>
          </a:p>
          <a:p>
            <a:pPr indent="-342900" lvl="0" marL="457200" rtl="0" algn="l">
              <a:spcBef>
                <a:spcPts val="1600"/>
              </a:spcBef>
              <a:spcAft>
                <a:spcPts val="0"/>
              </a:spcAft>
              <a:buSzPts val="1800"/>
              <a:buChar char="●"/>
            </a:pPr>
            <a:r>
              <a:rPr lang="pt-BR"/>
              <a:t>Tower of Hanoi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pt-BR"/>
              <a:t>Binary Search</a:t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4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Towers of Hanoi</a:t>
            </a:r>
            <a:endParaRPr/>
          </a:p>
        </p:txBody>
      </p:sp>
      <p:pic>
        <p:nvPicPr>
          <p:cNvPr id="263" name="Google Shape;263;p4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94400" y="863550"/>
            <a:ext cx="4555200" cy="3416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4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Towers of Hanoi</a:t>
            </a:r>
            <a:endParaRPr/>
          </a:p>
        </p:txBody>
      </p:sp>
      <p:sp>
        <p:nvSpPr>
          <p:cNvPr id="269" name="Google Shape;269;p44"/>
          <p:cNvSpPr txBox="1"/>
          <p:nvPr>
            <p:ph idx="1" type="body"/>
          </p:nvPr>
        </p:nvSpPr>
        <p:spPr>
          <a:xfrm>
            <a:off x="4968925" y="1152475"/>
            <a:ext cx="38634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rPr lang="pt-BR"/>
              <a:t>(a) Initial state.</a:t>
            </a:r>
            <a:endParaRPr/>
          </a:p>
          <a:p>
            <a:pPr indent="0" lvl="0" marL="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600"/>
              </a:spcBef>
              <a:spcAft>
                <a:spcPts val="1600"/>
              </a:spcAft>
              <a:buNone/>
            </a:pPr>
            <a:r>
              <a:rPr lang="pt-BR"/>
              <a:t>(b) Move </a:t>
            </a:r>
            <a:r>
              <a:rPr i="1" lang="pt-BR"/>
              <a:t>n-1</a:t>
            </a:r>
            <a:r>
              <a:rPr lang="pt-BR"/>
              <a:t> disks from </a:t>
            </a:r>
            <a:r>
              <a:rPr b="1" lang="pt-BR"/>
              <a:t>A</a:t>
            </a:r>
            <a:r>
              <a:rPr lang="pt-BR"/>
              <a:t> to </a:t>
            </a:r>
            <a:r>
              <a:rPr b="1" lang="pt-BR"/>
              <a:t>C</a:t>
            </a:r>
            <a:r>
              <a:rPr lang="pt-BR"/>
              <a:t>.</a:t>
            </a:r>
            <a:endParaRPr/>
          </a:p>
        </p:txBody>
      </p:sp>
      <p:pic>
        <p:nvPicPr>
          <p:cNvPr id="270" name="Google Shape;270;p4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1701" y="1017725"/>
            <a:ext cx="4657225" cy="17890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1" name="Google Shape;271;p4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1700" y="2806775"/>
            <a:ext cx="4657224" cy="17498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4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Towers of Hanoi</a:t>
            </a:r>
            <a:endParaRPr/>
          </a:p>
        </p:txBody>
      </p:sp>
      <p:sp>
        <p:nvSpPr>
          <p:cNvPr id="277" name="Google Shape;277;p45"/>
          <p:cNvSpPr txBox="1"/>
          <p:nvPr>
            <p:ph idx="1" type="body"/>
          </p:nvPr>
        </p:nvSpPr>
        <p:spPr>
          <a:xfrm>
            <a:off x="4968925" y="1152475"/>
            <a:ext cx="38634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rPr lang="pt-BR"/>
              <a:t>(c) Move 1 disk from </a:t>
            </a:r>
            <a:r>
              <a:rPr b="1" lang="pt-BR"/>
              <a:t>A</a:t>
            </a:r>
            <a:r>
              <a:rPr lang="pt-BR"/>
              <a:t> to </a:t>
            </a:r>
            <a:r>
              <a:rPr b="1" lang="pt-BR"/>
              <a:t>B</a:t>
            </a:r>
            <a:r>
              <a:rPr lang="pt-BR"/>
              <a:t>.</a:t>
            </a:r>
            <a:endParaRPr/>
          </a:p>
          <a:p>
            <a:pPr indent="0" lvl="0" marL="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600"/>
              </a:spcBef>
              <a:spcAft>
                <a:spcPts val="1600"/>
              </a:spcAft>
              <a:buNone/>
            </a:pPr>
            <a:r>
              <a:rPr lang="pt-BR"/>
              <a:t>(b) Move </a:t>
            </a:r>
            <a:r>
              <a:rPr i="1" lang="pt-BR"/>
              <a:t>n-1</a:t>
            </a:r>
            <a:r>
              <a:rPr lang="pt-BR"/>
              <a:t> disks from </a:t>
            </a:r>
            <a:r>
              <a:rPr b="1" lang="pt-BR"/>
              <a:t>C</a:t>
            </a:r>
            <a:r>
              <a:rPr lang="pt-BR"/>
              <a:t> to </a:t>
            </a:r>
            <a:r>
              <a:rPr b="1" lang="pt-BR"/>
              <a:t>B</a:t>
            </a:r>
            <a:r>
              <a:rPr lang="pt-BR"/>
              <a:t>.</a:t>
            </a:r>
            <a:endParaRPr/>
          </a:p>
        </p:txBody>
      </p:sp>
      <p:pic>
        <p:nvPicPr>
          <p:cNvPr id="278" name="Google Shape;278;p4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1700" y="1152475"/>
            <a:ext cx="4538078" cy="17890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9" name="Google Shape;279;p4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1700" y="3076275"/>
            <a:ext cx="4451705" cy="1897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4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Towers of Hanoi</a:t>
            </a:r>
            <a:endParaRPr/>
          </a:p>
        </p:txBody>
      </p:sp>
      <p:sp>
        <p:nvSpPr>
          <p:cNvPr id="285" name="Google Shape;285;p46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pt-BR"/>
              <a:t>Problem: starting with </a:t>
            </a:r>
            <a:r>
              <a:rPr i="1" lang="pt-BR"/>
              <a:t>n</a:t>
            </a:r>
            <a:r>
              <a:rPr lang="pt-BR"/>
              <a:t> disks on pole </a:t>
            </a:r>
            <a:r>
              <a:rPr b="1" lang="pt-BR"/>
              <a:t>A</a:t>
            </a:r>
            <a:r>
              <a:rPr lang="pt-BR"/>
              <a:t> and zero on poles </a:t>
            </a:r>
            <a:r>
              <a:rPr b="1" lang="pt-BR"/>
              <a:t>B</a:t>
            </a:r>
            <a:r>
              <a:rPr lang="pt-BR"/>
              <a:t> and </a:t>
            </a:r>
            <a:r>
              <a:rPr b="1" lang="pt-BR"/>
              <a:t>C</a:t>
            </a:r>
            <a:r>
              <a:rPr lang="pt-BR"/>
              <a:t>. Move all disks to pole </a:t>
            </a:r>
            <a:r>
              <a:rPr b="1" lang="pt-BR"/>
              <a:t>C</a:t>
            </a:r>
            <a:r>
              <a:rPr lang="pt-BR"/>
              <a:t> without having a larger disk resting on top of a smaller disk. Solve function </a:t>
            </a:r>
            <a:r>
              <a:rPr i="1" lang="pt-BR"/>
              <a:t>solveTowers(n, A, B, C)</a:t>
            </a:r>
            <a:r>
              <a:rPr lang="pt-BR"/>
              <a:t>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pt-BR"/>
              <a:t>Solution: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pt-BR"/>
              <a:t>With all disks on </a:t>
            </a:r>
            <a:r>
              <a:rPr b="1" lang="pt-BR"/>
              <a:t>A</a:t>
            </a:r>
            <a:r>
              <a:rPr lang="pt-BR"/>
              <a:t>, solve </a:t>
            </a:r>
            <a:r>
              <a:rPr i="1" lang="pt-BR"/>
              <a:t>solveTowers(n-1, A, C, B)</a:t>
            </a:r>
            <a:r>
              <a:rPr lang="pt-BR"/>
              <a:t>.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pt-BR"/>
              <a:t>With largest disk on </a:t>
            </a:r>
            <a:r>
              <a:rPr b="1" lang="pt-BR"/>
              <a:t>A</a:t>
            </a:r>
            <a:r>
              <a:rPr lang="pt-BR"/>
              <a:t>, and all others on </a:t>
            </a:r>
            <a:r>
              <a:rPr b="1" lang="pt-BR"/>
              <a:t>C</a:t>
            </a:r>
            <a:r>
              <a:rPr lang="pt-BR"/>
              <a:t>, </a:t>
            </a:r>
            <a:r>
              <a:rPr i="1" lang="pt-BR"/>
              <a:t>solveTowers(n-1, A, B, C)</a:t>
            </a:r>
            <a:r>
              <a:rPr lang="pt-BR"/>
              <a:t>.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pt-BR"/>
              <a:t>With largest disk on </a:t>
            </a:r>
            <a:r>
              <a:rPr b="1" lang="pt-BR"/>
              <a:t>B</a:t>
            </a:r>
            <a:r>
              <a:rPr lang="pt-BR"/>
              <a:t>, and all others on </a:t>
            </a:r>
            <a:r>
              <a:rPr b="1" lang="pt-BR"/>
              <a:t>C</a:t>
            </a:r>
            <a:r>
              <a:rPr lang="pt-BR"/>
              <a:t>, </a:t>
            </a:r>
            <a:r>
              <a:rPr i="1" lang="pt-BR"/>
              <a:t>solveTowers(n-1, C, B, A)</a:t>
            </a:r>
            <a:r>
              <a:rPr lang="pt-BR"/>
              <a:t>.</a:t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p4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1" name="Google Shape;291;p47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600"/>
              </a:spcAft>
              <a:buNone/>
            </a:pPr>
            <a:r>
              <a:t/>
            </a:r>
            <a:endParaRPr/>
          </a:p>
        </p:txBody>
      </p:sp>
      <p:pic>
        <p:nvPicPr>
          <p:cNvPr id="292" name="Google Shape;292;p4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14450" y="742950"/>
            <a:ext cx="6515100" cy="3657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Towers of Hanoi: solution</a:t>
            </a:r>
            <a:endParaRPr/>
          </a:p>
        </p:txBody>
      </p:sp>
      <p:pic>
        <p:nvPicPr>
          <p:cNvPr id="298" name="Google Shape;298;p4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95450" y="1400175"/>
            <a:ext cx="5753100" cy="28003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2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4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Towers of Hanoi: recursive calls</a:t>
            </a:r>
            <a:endParaRPr/>
          </a:p>
        </p:txBody>
      </p:sp>
      <p:pic>
        <p:nvPicPr>
          <p:cNvPr id="304" name="Google Shape;304;p4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19789" y="1170125"/>
            <a:ext cx="7104425" cy="2649350"/>
          </a:xfrm>
          <a:prstGeom prst="rect">
            <a:avLst/>
          </a:prstGeom>
          <a:noFill/>
          <a:ln>
            <a:noFill/>
          </a:ln>
        </p:spPr>
      </p:pic>
      <p:sp>
        <p:nvSpPr>
          <p:cNvPr id="305" name="Google Shape;305;p49"/>
          <p:cNvSpPr txBox="1"/>
          <p:nvPr>
            <p:ph idx="1" type="body"/>
          </p:nvPr>
        </p:nvSpPr>
        <p:spPr>
          <a:xfrm>
            <a:off x="311700" y="3819475"/>
            <a:ext cx="8520600" cy="95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Minimal number of moves: 2</a:t>
            </a:r>
            <a:r>
              <a:rPr baseline="30000" lang="pt-BR"/>
              <a:t>n</a:t>
            </a:r>
            <a:r>
              <a:rPr lang="pt-BR"/>
              <a:t> - 1</a:t>
            </a:r>
            <a:endParaRPr/>
          </a:p>
          <a:p>
            <a:pPr indent="0" lvl="0" marL="0" rtl="0" algn="l">
              <a:spcBef>
                <a:spcPts val="1600"/>
              </a:spcBef>
              <a:spcAft>
                <a:spcPts val="1600"/>
              </a:spcAft>
              <a:buNone/>
            </a:pPr>
            <a:r>
              <a:rPr lang="pt-BR"/>
              <a:t>Example iterative solution: </a:t>
            </a:r>
            <a:r>
              <a:rPr lang="pt-BR" u="sng">
                <a:solidFill>
                  <a:schemeClr val="hlink"/>
                </a:solidFill>
                <a:hlinkClick r:id="rId4"/>
              </a:rPr>
              <a:t>https://www.geeksforgeeks.org/iterative-tower-of-hanoi/</a:t>
            </a:r>
            <a:endParaRPr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5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Binary Search</a:t>
            </a:r>
            <a:endParaRPr/>
          </a:p>
        </p:txBody>
      </p:sp>
      <p:sp>
        <p:nvSpPr>
          <p:cNvPr id="311" name="Google Shape;311;p50"/>
          <p:cNvSpPr txBox="1"/>
          <p:nvPr>
            <p:ph idx="1" type="body"/>
          </p:nvPr>
        </p:nvSpPr>
        <p:spPr>
          <a:xfrm>
            <a:off x="311700" y="1152475"/>
            <a:ext cx="8520600" cy="3588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pt-BR"/>
              <a:t>Given a </a:t>
            </a:r>
            <a:r>
              <a:rPr b="1" lang="pt-BR"/>
              <a:t>sorted array</a:t>
            </a:r>
            <a:r>
              <a:rPr lang="pt-BR"/>
              <a:t>, find the position of a given </a:t>
            </a:r>
            <a:r>
              <a:rPr i="1" lang="pt-BR"/>
              <a:t>target value</a:t>
            </a:r>
            <a:r>
              <a:rPr lang="pt-BR"/>
              <a:t>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pt-BR"/>
              <a:t>Example array: ascending prime numbers</a:t>
            </a:r>
            <a:endParaRPr/>
          </a:p>
          <a:p>
            <a:pPr indent="0" lvl="0" marL="45720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45720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-342900" lvl="0" marL="457200" rtl="0" algn="l">
              <a:spcBef>
                <a:spcPts val="1600"/>
              </a:spcBef>
              <a:spcAft>
                <a:spcPts val="0"/>
              </a:spcAft>
              <a:buSzPts val="1800"/>
              <a:buChar char="●"/>
            </a:pPr>
            <a:r>
              <a:rPr lang="pt-BR"/>
              <a:t>Solution: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pt-BR"/>
              <a:t>Find the middle point</a:t>
            </a:r>
            <a:endParaRPr/>
          </a:p>
          <a:p>
            <a:pPr indent="-317500" lvl="2" marL="1371600" rtl="0" algn="l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pt-BR"/>
              <a:t>If </a:t>
            </a:r>
            <a:r>
              <a:rPr i="1" lang="pt-BR"/>
              <a:t>middle</a:t>
            </a:r>
            <a:r>
              <a:rPr lang="pt-BR"/>
              <a:t> point is </a:t>
            </a:r>
            <a:r>
              <a:rPr i="1" lang="pt-BR"/>
              <a:t>target</a:t>
            </a:r>
            <a:r>
              <a:rPr lang="pt-BR"/>
              <a:t> value, return</a:t>
            </a:r>
            <a:endParaRPr/>
          </a:p>
          <a:p>
            <a:pPr indent="-317500" lvl="2" marL="1371600" rtl="0" algn="l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pt-BR"/>
              <a:t>If </a:t>
            </a:r>
            <a:r>
              <a:rPr i="1" lang="pt-BR"/>
              <a:t>middle</a:t>
            </a:r>
            <a:r>
              <a:rPr lang="pt-BR"/>
              <a:t> point is greater than </a:t>
            </a:r>
            <a:r>
              <a:rPr i="1" lang="pt-BR"/>
              <a:t>target</a:t>
            </a:r>
            <a:r>
              <a:rPr lang="pt-BR"/>
              <a:t>, repeat procedure with left half of list</a:t>
            </a:r>
            <a:endParaRPr/>
          </a:p>
          <a:p>
            <a:pPr indent="-317500" lvl="2" marL="1371600" rtl="0" algn="l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pt-BR"/>
              <a:t>If </a:t>
            </a:r>
            <a:r>
              <a:rPr i="1" lang="pt-BR"/>
              <a:t>middle</a:t>
            </a:r>
            <a:r>
              <a:rPr lang="pt-BR"/>
              <a:t> point is lower than </a:t>
            </a:r>
            <a:r>
              <a:rPr i="1" lang="pt-BR"/>
              <a:t>target</a:t>
            </a:r>
            <a:r>
              <a:rPr lang="pt-BR"/>
              <a:t>, repeat procedure with right half of list</a:t>
            </a:r>
            <a:endParaRPr/>
          </a:p>
          <a:p>
            <a:pPr indent="-317500" lvl="2" marL="1371600" rtl="0" algn="l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pt-BR"/>
              <a:t>Return -1 if </a:t>
            </a:r>
            <a:r>
              <a:rPr i="1" lang="pt-BR"/>
              <a:t>target</a:t>
            </a:r>
            <a:r>
              <a:rPr lang="pt-BR"/>
              <a:t> not found</a:t>
            </a:r>
            <a:endParaRPr/>
          </a:p>
        </p:txBody>
      </p:sp>
      <p:graphicFrame>
        <p:nvGraphicFramePr>
          <p:cNvPr id="312" name="Google Shape;312;p50"/>
          <p:cNvGraphicFramePr/>
          <p:nvPr/>
        </p:nvGraphicFramePr>
        <p:xfrm>
          <a:off x="952538" y="20383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{5F357F82-B525-4A21-B82F-F37E94B41F46}</a:tableStyleId>
              </a:tblPr>
              <a:tblGrid>
                <a:gridCol w="804325"/>
                <a:gridCol w="804325"/>
                <a:gridCol w="804325"/>
                <a:gridCol w="804325"/>
                <a:gridCol w="804325"/>
                <a:gridCol w="804325"/>
                <a:gridCol w="804325"/>
                <a:gridCol w="804325"/>
                <a:gridCol w="804325"/>
              </a:tblGrid>
              <a:tr h="381000">
                <a:tc>
                  <a:txBody>
                    <a:bodyPr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/>
                        <a:t>Index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/>
                        <a:t>0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/>
                        <a:t>1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/>
                        <a:t>2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/>
                        <a:t>3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/>
                        <a:t>4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/>
                        <a:t>5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/>
                        <a:t>6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/>
                        <a:t>7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/>
                        <a:t>Value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/>
                        <a:t>2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/>
                        <a:t>3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/>
                        <a:t>5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/>
                        <a:t>7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/>
                        <a:t>11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/>
                        <a:t>13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/>
                        <a:t>17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>
                      <a:noAutofit/>
                    </a:bodyPr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/>
                        <a:t>23</a:t>
                      </a:r>
                      <a:endParaRPr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5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Binary Search</a:t>
            </a:r>
            <a:endParaRPr/>
          </a:p>
        </p:txBody>
      </p:sp>
      <p:pic>
        <p:nvPicPr>
          <p:cNvPr id="318" name="Google Shape;318;p5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1700" y="1344338"/>
            <a:ext cx="4160324" cy="24548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19" name="Google Shape;319;p5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623650" y="1542538"/>
            <a:ext cx="4208649" cy="20584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5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Summarizing</a:t>
            </a:r>
            <a:endParaRPr/>
          </a:p>
        </p:txBody>
      </p:sp>
      <p:sp>
        <p:nvSpPr>
          <p:cNvPr id="325" name="Google Shape;325;p52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pt-BR"/>
              <a:t>The challenge in using recursion to solve a problem relies on identifying that a problem </a:t>
            </a:r>
            <a:r>
              <a:rPr i="1" lang="pt-BR"/>
              <a:t>CAN</a:t>
            </a:r>
            <a:r>
              <a:rPr lang="pt-BR"/>
              <a:t> be solved by recursion.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pt-BR"/>
              <a:t>Determining the base case and make sure it will eventually be triggered, otherwise you'll end up with an infinite recursion call.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pt-BR"/>
              <a:t>Important concept to understand, even if you don't use it in your future job.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pt-BR"/>
              <a:t>Don't neglect recursion, sometimes an interview question can be solved by using it (and with fewer lines of code).</a:t>
            </a:r>
            <a:endParaRPr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53"/>
          <p:cNvSpPr txBox="1"/>
          <p:nvPr>
            <p:ph type="title"/>
          </p:nvPr>
        </p:nvSpPr>
        <p:spPr>
          <a:xfrm>
            <a:off x="311700" y="20452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Questions?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